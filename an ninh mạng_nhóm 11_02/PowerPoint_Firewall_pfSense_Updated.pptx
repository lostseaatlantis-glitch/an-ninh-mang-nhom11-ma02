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8" r:id="rId10"/>
    <p:sldId id="263" r:id="rId11"/>
    <p:sldId id="264" r:id="rId12"/>
    <p:sldId id="266" r:id="rId13"/>
    <p:sldId id="267" r:id="rId14"/>
    <p:sldId id="269" r:id="rId15"/>
    <p:sldId id="272" r:id="rId16"/>
    <p:sldId id="271" r:id="rId17"/>
    <p:sldId id="275" r:id="rId18"/>
    <p:sldId id="273" r:id="rId19"/>
    <p:sldId id="276" r:id="rId20"/>
    <p:sldId id="265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GB" sz="5800"/>
              <a:t>CÀI ĐẶT VÀ CẤU HÌNH HỆ THỐNG KIỂM SOÁT TRUY CẬP - FIREWALL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1100"/>
              <a:t>Môn: An ninh mạng</a:t>
            </a:r>
          </a:p>
          <a:p>
            <a:pPr>
              <a:lnSpc>
                <a:spcPct val="90000"/>
              </a:lnSpc>
            </a:pPr>
            <a:r>
              <a:rPr lang="vi-VN" sz="1100"/>
              <a:t>Nhóm 11</a:t>
            </a:r>
          </a:p>
          <a:p>
            <a:pPr>
              <a:lnSpc>
                <a:spcPct val="90000"/>
              </a:lnSpc>
            </a:pPr>
            <a:r>
              <a:rPr lang="vi-VN" sz="1100"/>
              <a:t>Trường Đại học Mỏ - Địa Chất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8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22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24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chemeClr val="tx2"/>
                </a:solidFill>
              </a:rPr>
              <a:t>Lời nói đầu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vi-VN" sz="1600">
                <a:solidFill>
                  <a:schemeClr val="tx2"/>
                </a:solidFill>
              </a:rPr>
              <a:t>• Sự phát triển mạnh của công nghệ thông tin và mạng máy tính</a:t>
            </a:r>
          </a:p>
          <a:p>
            <a:r>
              <a:rPr lang="vi-VN" sz="1600">
                <a:solidFill>
                  <a:schemeClr val="tx2"/>
                </a:solidFill>
              </a:rPr>
              <a:t>• Gia tăng các nguy cơ tấn công mạng và mất an toàn dữ liệu</a:t>
            </a:r>
          </a:p>
          <a:p>
            <a:r>
              <a:rPr lang="vi-VN" sz="1600">
                <a:solidFill>
                  <a:schemeClr val="tx2"/>
                </a:solidFill>
              </a:rPr>
              <a:t>• Firewall là giải pháp bảo mật quan trọng cho hệ thống mạng</a:t>
            </a:r>
          </a:p>
          <a:p>
            <a:r>
              <a:rPr lang="vi-VN" sz="1600">
                <a:solidFill>
                  <a:schemeClr val="tx2"/>
                </a:solidFill>
              </a:rPr>
              <a:t>• pfSense là giải pháp mã nguồn mở hiệu quả và tiết kiệm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1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Tổng quan về Firewall</a:t>
            </a:r>
          </a:p>
        </p:txBody>
      </p:sp>
      <p:grpSp>
        <p:nvGrpSpPr>
          <p:cNvPr id="38" name="Group 2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2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vi-VN" sz="1600">
                <a:solidFill>
                  <a:schemeClr val="tx2"/>
                </a:solidFill>
              </a:rPr>
              <a:t>• Firewall là hệ thống kiểm soát lưu lượng mạng</a:t>
            </a:r>
          </a:p>
          <a:p>
            <a:r>
              <a:rPr lang="vi-VN" sz="1600">
                <a:solidFill>
                  <a:schemeClr val="tx2"/>
                </a:solidFill>
              </a:rPr>
              <a:t>• Hoạt động như rào chắn giữa mạng an toàn và Internet</a:t>
            </a:r>
          </a:p>
          <a:p>
            <a:r>
              <a:rPr lang="vi-VN" sz="1600">
                <a:solidFill>
                  <a:schemeClr val="tx2"/>
                </a:solidFill>
              </a:rPr>
              <a:t>• Cho phép hoặc từ chối truy cập theo quy tắc</a:t>
            </a:r>
          </a:p>
          <a:p>
            <a:r>
              <a:rPr lang="vi-VN" sz="1600">
                <a:solidFill>
                  <a:schemeClr val="tx2"/>
                </a:solidFill>
              </a:rPr>
              <a:t>• Có thể triển khai bằng phần cứng hoặc phần mềm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D8649844-FADF-FE51-A9A8-326F98F6D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2033" y="3782139"/>
            <a:ext cx="3716020" cy="1328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Chức năng chính của Firewall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vi-VN" sz="1600">
                <a:solidFill>
                  <a:schemeClr val="tx2"/>
                </a:solidFill>
              </a:rPr>
              <a:t>• Kiểm soát lưu lượng giữa Intranet và Internet</a:t>
            </a:r>
          </a:p>
          <a:p>
            <a:r>
              <a:rPr lang="vi-VN" sz="1600">
                <a:solidFill>
                  <a:schemeClr val="tx2"/>
                </a:solidFill>
              </a:rPr>
              <a:t>• Cho phép hoặc chặn dịch vụ truy cập</a:t>
            </a:r>
          </a:p>
          <a:p>
            <a:r>
              <a:rPr lang="vi-VN" sz="1600">
                <a:solidFill>
                  <a:schemeClr val="tx2"/>
                </a:solidFill>
              </a:rPr>
              <a:t>• Theo dõi và lọc dữ liệu mạng</a:t>
            </a:r>
          </a:p>
          <a:p>
            <a:r>
              <a:rPr lang="vi-VN" sz="1600">
                <a:solidFill>
                  <a:schemeClr val="tx2"/>
                </a:solidFill>
              </a:rPr>
              <a:t>• Kiểm soát người dùng và nội dung truy cập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Hình ảnh 4" descr="Firewall (tường lửa) là gì? Tại sao tường lửa lại quan trọng với máy tính?">
            <a:extLst>
              <a:ext uri="{FF2B5EF4-FFF2-40B4-BE49-F238E27FC236}">
                <a16:creationId xmlns:a16="http://schemas.microsoft.com/office/drawing/2014/main" id="{6C84BD58-B0C7-8A2D-D4AC-47A9AFAF9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3" y="3451016"/>
            <a:ext cx="3716020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Phân loại Firewall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Firewall cứng:</a:t>
            </a:r>
          </a:p>
          <a:p>
            <a:r>
              <a:rPr lang="en-GB" sz="1600">
                <a:solidFill>
                  <a:schemeClr val="tx2"/>
                </a:solidFill>
              </a:rPr>
              <a:t>  - Bảo mật cao</a:t>
            </a:r>
          </a:p>
          <a:p>
            <a:r>
              <a:rPr lang="en-GB" sz="1600">
                <a:solidFill>
                  <a:schemeClr val="tx2"/>
                </a:solidFill>
              </a:rPr>
              <a:t>  - Hiệu suất tốt</a:t>
            </a:r>
          </a:p>
          <a:p>
            <a:r>
              <a:rPr lang="en-GB" sz="1600">
                <a:solidFill>
                  <a:schemeClr val="tx2"/>
                </a:solidFill>
              </a:rPr>
              <a:t>  - Quản lý tập trung</a:t>
            </a:r>
          </a:p>
          <a:p>
            <a:endParaRPr lang="en-GB" sz="1600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• Firewall mềm:</a:t>
            </a:r>
          </a:p>
          <a:p>
            <a:r>
              <a:rPr lang="en-GB" sz="1600">
                <a:solidFill>
                  <a:schemeClr val="tx2"/>
                </a:solidFill>
              </a:rPr>
              <a:t>  - Dễ cấu hình</a:t>
            </a:r>
          </a:p>
          <a:p>
            <a:r>
              <a:rPr lang="en-GB" sz="1600">
                <a:solidFill>
                  <a:schemeClr val="tx2"/>
                </a:solidFill>
              </a:rPr>
              <a:t>  - Chi phí thấp</a:t>
            </a:r>
          </a:p>
          <a:p>
            <a:r>
              <a:rPr lang="en-GB" sz="1600">
                <a:solidFill>
                  <a:schemeClr val="tx2"/>
                </a:solidFill>
              </a:rPr>
              <a:t>  - Linh hoạt và thân thiện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1">
            <a:extLst>
              <a:ext uri="{FF2B5EF4-FFF2-40B4-BE49-F238E27FC236}">
                <a16:creationId xmlns:a16="http://schemas.microsoft.com/office/drawing/2014/main" id="{A96D5868-0A48-8083-B33B-E1B258C5A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2033" y="3563824"/>
            <a:ext cx="3716020" cy="17651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Kiến trúc Firewall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vi-VN" sz="1600">
                <a:solidFill>
                  <a:schemeClr val="tx2"/>
                </a:solidFill>
              </a:rPr>
              <a:t>• Dual-homed Host</a:t>
            </a:r>
          </a:p>
          <a:p>
            <a:r>
              <a:rPr lang="vi-VN" sz="1600">
                <a:solidFill>
                  <a:schemeClr val="tx2"/>
                </a:solidFill>
              </a:rPr>
              <a:t>  - Có 2 card mạng</a:t>
            </a:r>
          </a:p>
          <a:p>
            <a:r>
              <a:rPr lang="vi-VN" sz="1600">
                <a:solidFill>
                  <a:schemeClr val="tx2"/>
                </a:solidFill>
              </a:rPr>
              <a:t>  - Dễ triển khai nhưng bảo mật hạn chế</a:t>
            </a:r>
          </a:p>
          <a:p>
            <a:endParaRPr lang="vi-VN" sz="1600">
              <a:solidFill>
                <a:schemeClr val="tx2"/>
              </a:solidFill>
            </a:endParaRPr>
          </a:p>
          <a:p>
            <a:r>
              <a:rPr lang="vi-VN" sz="1600">
                <a:solidFill>
                  <a:schemeClr val="tx2"/>
                </a:solidFill>
              </a:rPr>
              <a:t>• Screened Subnet Host</a:t>
            </a:r>
          </a:p>
          <a:p>
            <a:r>
              <a:rPr lang="vi-VN" sz="1600">
                <a:solidFill>
                  <a:schemeClr val="tx2"/>
                </a:solidFill>
              </a:rPr>
              <a:t>  - Sử dụng DMZ và Router lọc</a:t>
            </a:r>
          </a:p>
          <a:p>
            <a:r>
              <a:rPr lang="vi-VN" sz="1600">
                <a:solidFill>
                  <a:schemeClr val="tx2"/>
                </a:solidFill>
              </a:rPr>
              <a:t>  - Độ an toàn cao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BDD71368-4AE4-E3C1-8BDF-5508A0C2E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1014" y="2837712"/>
            <a:ext cx="3258057" cy="32173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Các thành phần của Firewall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Packet Filtering</a:t>
            </a:r>
          </a:p>
          <a:p>
            <a:r>
              <a:rPr lang="en-GB" sz="1600">
                <a:solidFill>
                  <a:schemeClr val="tx2"/>
                </a:solidFill>
              </a:rPr>
              <a:t>• Application Gateway</a:t>
            </a:r>
          </a:p>
          <a:p>
            <a:r>
              <a:rPr lang="en-GB" sz="1600">
                <a:solidFill>
                  <a:schemeClr val="tx2"/>
                </a:solidFill>
              </a:rPr>
              <a:t>• Circuit Level Gateway</a:t>
            </a:r>
          </a:p>
          <a:p>
            <a:r>
              <a:rPr lang="en-GB" sz="1600">
                <a:solidFill>
                  <a:schemeClr val="tx2"/>
                </a:solidFill>
              </a:rPr>
              <a:t>• Proxy Service</a:t>
            </a:r>
          </a:p>
          <a:p>
            <a:r>
              <a:rPr lang="en-GB" sz="1600">
                <a:solidFill>
                  <a:schemeClr val="tx2"/>
                </a:solidFill>
              </a:rPr>
              <a:t>• Bastion Host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C515D5-009C-0CCE-0560-B61B6374A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2033" y="3707819"/>
            <a:ext cx="3716020" cy="1477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700"/>
              <a:t>Kiểm tra Firewall Rules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GB" sz="1900"/>
              <a:t>Rule mặc định cho phép LAN → Any</a:t>
            </a:r>
          </a:p>
          <a:p>
            <a:r>
              <a:rPr lang="en-GB" sz="1900"/>
              <a:t>Rule Block ICMP để chặn ping</a:t>
            </a:r>
          </a:p>
          <a:p>
            <a:r>
              <a:rPr lang="en-GB" sz="1900"/>
              <a:t>Rule Block TCP Port 80/443 để chặn Web</a:t>
            </a:r>
          </a:p>
          <a:p>
            <a:r>
              <a:rPr lang="en-GB" sz="1900"/>
              <a:t>Rule Allow riêng cho IP 192.168.1.20</a:t>
            </a:r>
          </a:p>
          <a:p>
            <a:r>
              <a:rPr lang="en-GB" sz="1900"/>
              <a:t>Kiểm tra log tại Status → System Logs → Firewall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8708FE71-03EC-71E4-1C4F-7A7CC93D1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1893665"/>
            <a:ext cx="4094226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Cấu hình Firewall Rules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Rule mặc định: Allow LAN → Any</a:t>
            </a:r>
          </a:p>
          <a:p>
            <a:r>
              <a:rPr lang="en-GB" sz="1600">
                <a:solidFill>
                  <a:schemeClr val="tx2"/>
                </a:solidFill>
              </a:rPr>
              <a:t>• Chặn ICMP (Ping)</a:t>
            </a:r>
          </a:p>
          <a:p>
            <a:r>
              <a:rPr lang="en-GB" sz="1600">
                <a:solidFill>
                  <a:schemeClr val="tx2"/>
                </a:solidFill>
              </a:rPr>
              <a:t>• Chặn truy cập Web (Port 80, 443)</a:t>
            </a:r>
          </a:p>
          <a:p>
            <a:r>
              <a:rPr lang="en-GB" sz="1600">
                <a:solidFill>
                  <a:schemeClr val="tx2"/>
                </a:solidFill>
              </a:rPr>
              <a:t>• Chỉ cho phép IP 192.168.1.20 truy cập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Hình ảnh 5" descr="Cấu hình Rules và Policies trên firewall Sophos">
            <a:extLst>
              <a:ext uri="{FF2B5EF4-FFF2-40B4-BE49-F238E27FC236}">
                <a16:creationId xmlns:a16="http://schemas.microsoft.com/office/drawing/2014/main" id="{0687C289-840D-2DE9-D54B-F3D53C74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3" y="3522019"/>
            <a:ext cx="3716020" cy="1848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Giới thiệu pfSense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Firewall mã nguồn mở mạnh mẽ</a:t>
            </a:r>
          </a:p>
          <a:p>
            <a:r>
              <a:rPr lang="en-GB" sz="1600">
                <a:solidFill>
                  <a:schemeClr val="tx2"/>
                </a:solidFill>
              </a:rPr>
              <a:t>• Dựa trên FreeBSD</a:t>
            </a:r>
          </a:p>
          <a:p>
            <a:r>
              <a:rPr lang="en-GB" sz="1600">
                <a:solidFill>
                  <a:schemeClr val="tx2"/>
                </a:solidFill>
              </a:rPr>
              <a:t>• Hỗ trợ GUI quản lý Web</a:t>
            </a:r>
          </a:p>
          <a:p>
            <a:r>
              <a:rPr lang="en-GB" sz="1600">
                <a:solidFill>
                  <a:schemeClr val="tx2"/>
                </a:solidFill>
              </a:rPr>
              <a:t>• Hỗ trợ NAT, VPN, Load Balancing</a:t>
            </a:r>
          </a:p>
          <a:p>
            <a:r>
              <a:rPr lang="en-GB" sz="1600">
                <a:solidFill>
                  <a:schemeClr val="tx2"/>
                </a:solidFill>
              </a:rPr>
              <a:t>• Yêu cầu tối thiểu 2 card mạng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F07BB6F-4DE8-A8B8-0BD3-C84B4044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3" y="3047491"/>
            <a:ext cx="3716020" cy="2797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Chức năng chính của pfSense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Aliases: nhóm IP, Port, Network</a:t>
            </a:r>
          </a:p>
          <a:p>
            <a:r>
              <a:rPr lang="en-GB" sz="1600">
                <a:solidFill>
                  <a:schemeClr val="tx2"/>
                </a:solidFill>
              </a:rPr>
              <a:t>• Firewall Rules: tạo luật kiểm soát truy cập</a:t>
            </a:r>
          </a:p>
          <a:p>
            <a:r>
              <a:rPr lang="en-GB" sz="1600">
                <a:solidFill>
                  <a:schemeClr val="tx2"/>
                </a:solidFill>
              </a:rPr>
              <a:t>• Schedule: lập lịch hoạt động Rule</a:t>
            </a:r>
          </a:p>
          <a:p>
            <a:r>
              <a:rPr lang="en-GB" sz="1600">
                <a:solidFill>
                  <a:schemeClr val="tx2"/>
                </a:solidFill>
              </a:rPr>
              <a:t>• NAT và Proxy hỗ trợ bảo mật mạng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8">
            <a:extLst>
              <a:ext uri="{FF2B5EF4-FFF2-40B4-BE49-F238E27FC236}">
                <a16:creationId xmlns:a16="http://schemas.microsoft.com/office/drawing/2014/main" id="{3792E380-F4F8-E803-9C99-5D09D5B5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2033" y="3405893"/>
            <a:ext cx="3716020" cy="20809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62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57666"/>
            <a:ext cx="7886696" cy="1499852"/>
          </a:xfrm>
        </p:spPr>
        <p:txBody>
          <a:bodyPr anchor="b">
            <a:normAutofit/>
          </a:bodyPr>
          <a:lstStyle/>
          <a:p>
            <a:r>
              <a:rPr lang="en-GB" sz="3500"/>
              <a:t>Cài đặt pfSense trên máy ảo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2AA843CB-208B-12AE-3A36-651EE5227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45" r="22441" b="-4"/>
          <a:stretch>
            <a:fillRect/>
          </a:stretch>
        </p:blipFill>
        <p:spPr>
          <a:xfrm>
            <a:off x="150468" y="842444"/>
            <a:ext cx="1688499" cy="1660203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EB8C8D2D-5B48-DF1E-913C-EB0DD50A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94" r="26850" b="-1"/>
          <a:stretch>
            <a:fillRect/>
          </a:stretch>
        </p:blipFill>
        <p:spPr>
          <a:xfrm>
            <a:off x="1941046" y="806198"/>
            <a:ext cx="1688499" cy="1732695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48D7913A-24C3-1F55-ECEB-026C2A4DD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07" r="22615"/>
          <a:stretch>
            <a:fillRect/>
          </a:stretch>
        </p:blipFill>
        <p:spPr>
          <a:xfrm>
            <a:off x="3731625" y="981588"/>
            <a:ext cx="1688499" cy="138191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9225AD70-2C97-E183-A4DC-A7C366796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33" r="30861" b="-1"/>
          <a:stretch>
            <a:fillRect/>
          </a:stretch>
        </p:blipFill>
        <p:spPr>
          <a:xfrm>
            <a:off x="5522203" y="905710"/>
            <a:ext cx="1688499" cy="1533672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6D372C75-47F1-5B0B-11D3-6FABDD7553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461" r="17478" b="2"/>
          <a:stretch>
            <a:fillRect/>
          </a:stretch>
        </p:blipFill>
        <p:spPr>
          <a:xfrm>
            <a:off x="7312782" y="1087067"/>
            <a:ext cx="1688499" cy="117095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629233"/>
            <a:ext cx="7886696" cy="149307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1700"/>
              <a:t>• Cài VMware Workstation</a:t>
            </a:r>
          </a:p>
          <a:p>
            <a:pPr algn="ctr">
              <a:lnSpc>
                <a:spcPct val="90000"/>
              </a:lnSpc>
            </a:pPr>
            <a:r>
              <a:rPr lang="en-GB" sz="1700"/>
              <a:t>• Tải file ISO pfSense</a:t>
            </a:r>
          </a:p>
          <a:p>
            <a:pPr algn="ctr">
              <a:lnSpc>
                <a:spcPct val="90000"/>
              </a:lnSpc>
            </a:pPr>
            <a:r>
              <a:rPr lang="en-GB" sz="1700"/>
              <a:t>• Tạo máy ảo mới</a:t>
            </a:r>
          </a:p>
          <a:p>
            <a:pPr algn="ctr">
              <a:lnSpc>
                <a:spcPct val="90000"/>
              </a:lnSpc>
            </a:pPr>
            <a:r>
              <a:rPr lang="en-GB" sz="1700"/>
              <a:t>• Gán 2 card mạng WAN/LAN</a:t>
            </a:r>
          </a:p>
          <a:p>
            <a:pPr algn="ctr">
              <a:lnSpc>
                <a:spcPct val="90000"/>
              </a:lnSpc>
            </a:pPr>
            <a:r>
              <a:rPr lang="en-GB" sz="1700"/>
              <a:t>• Boot ISO và cài đặt pfSense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Cấu hình mạng pfSense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WAN: DHCP Client</a:t>
            </a:r>
          </a:p>
          <a:p>
            <a:r>
              <a:rPr lang="en-GB" sz="1600">
                <a:solidFill>
                  <a:schemeClr val="tx2"/>
                </a:solidFill>
              </a:rPr>
              <a:t>• LAN IP: 192.168.1.1/24</a:t>
            </a:r>
          </a:p>
          <a:p>
            <a:r>
              <a:rPr lang="en-GB" sz="1600">
                <a:solidFill>
                  <a:schemeClr val="tx2"/>
                </a:solidFill>
              </a:rPr>
              <a:t>• Client IP: 192.168.1.20</a:t>
            </a:r>
          </a:p>
          <a:p>
            <a:r>
              <a:rPr lang="en-GB" sz="1600">
                <a:solidFill>
                  <a:schemeClr val="tx2"/>
                </a:solidFill>
              </a:rPr>
              <a:t>• Gateway: 192.168.1.1</a:t>
            </a:r>
          </a:p>
          <a:p>
            <a:r>
              <a:rPr lang="en-GB" sz="1600">
                <a:solidFill>
                  <a:schemeClr val="tx2"/>
                </a:solidFill>
              </a:rPr>
              <a:t>• DNS: 8.8.8.8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Hình ảnh 6" descr="Cấu hình Pfsense Cluster - ITTODAY - Luôn Đồng Hành Cùng Khách Hàng">
            <a:extLst>
              <a:ext uri="{FF2B5EF4-FFF2-40B4-BE49-F238E27FC236}">
                <a16:creationId xmlns:a16="http://schemas.microsoft.com/office/drawing/2014/main" id="{A4AA2D66-04C6-32D2-CFB1-5F9D5D86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3" y="3159707"/>
            <a:ext cx="3716020" cy="25733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F99093-FB6D-43E0-AA45-FA744653E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8B83EF-4FB2-4C16-B94A-73A8FBC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CE4779-ABAB-448C-B806-A60E8F83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4155"/>
            <a:ext cx="1886210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84E8940-EE47-4A50-B7D3-F4BF68524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BA40340-BD4D-49C0-8BC6-61AF7391F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79A4281-F939-4206-9B6F-8DDD2FDAA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8774401-76BE-487C-8645-DC90C833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100267" cy="1454051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Kiểm tra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2"/>
            <a:ext cx="3100020" cy="3639289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Ping Gateway: thành công</a:t>
            </a:r>
          </a:p>
          <a:p>
            <a:r>
              <a:rPr lang="en-GB" sz="1600">
                <a:solidFill>
                  <a:schemeClr val="tx2"/>
                </a:solidFill>
              </a:rPr>
              <a:t>• Ping Internet: bị chặn bởi ICMP Rule</a:t>
            </a:r>
          </a:p>
          <a:p>
            <a:r>
              <a:rPr lang="en-GB" sz="1600">
                <a:solidFill>
                  <a:schemeClr val="tx2"/>
                </a:solidFill>
              </a:rPr>
              <a:t>• Truy cập web: bị giới hạn theo Rule</a:t>
            </a:r>
          </a:p>
          <a:p>
            <a:r>
              <a:rPr lang="en-GB" sz="1600">
                <a:solidFill>
                  <a:schemeClr val="tx2"/>
                </a:solidFill>
              </a:rPr>
              <a:t>• Kiểm tra log tại Firewall Logs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EDB2563C-C92E-E9DB-EBB4-DD3CAA459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462" y="1759047"/>
            <a:ext cx="2332985" cy="1644754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F38DF534-653E-46F8-0DD8-546AA07B7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848" y="1794043"/>
            <a:ext cx="2332985" cy="1609759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587F3509-2BD3-F335-F46B-6D398D590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461" y="3488375"/>
            <a:ext cx="2332986" cy="1415173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E4482A67-6489-5EB2-B77C-AF0B169D5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846" y="3488376"/>
            <a:ext cx="2332986" cy="10186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vi-VN" sz="3500">
                <a:solidFill>
                  <a:schemeClr val="tx2"/>
                </a:solidFill>
              </a:rPr>
              <a:t>Các bước cấu hình Win10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Mở Control Panel → Network and Sharing Center</a:t>
            </a:r>
          </a:p>
          <a:p>
            <a:r>
              <a:rPr lang="en-GB" sz="1600">
                <a:solidFill>
                  <a:schemeClr val="tx2"/>
                </a:solidFill>
              </a:rPr>
              <a:t>Chọn Change Adapter Settings</a:t>
            </a:r>
          </a:p>
          <a:p>
            <a:r>
              <a:rPr lang="en-GB" sz="1600">
                <a:solidFill>
                  <a:schemeClr val="tx2"/>
                </a:solidFill>
              </a:rPr>
              <a:t>Mở Ethernet → Properties</a:t>
            </a:r>
          </a:p>
          <a:p>
            <a:r>
              <a:rPr lang="en-GB" sz="1600">
                <a:solidFill>
                  <a:schemeClr val="tx2"/>
                </a:solidFill>
              </a:rPr>
              <a:t>Chọn Internet Protocol Version 4 (TCP/IPv4)</a:t>
            </a:r>
          </a:p>
          <a:p>
            <a:r>
              <a:rPr lang="en-GB" sz="1600">
                <a:solidFill>
                  <a:schemeClr val="tx2"/>
                </a:solidFill>
              </a:rPr>
              <a:t>Nhập IP, Gateway và DNS theo cấu hình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/>
              <a:t>Cấu hình Windows 10 Client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GB" sz="1900"/>
              <a:t>Thiết lập IP tĩnh cho máy Windows 10</a:t>
            </a:r>
          </a:p>
          <a:p>
            <a:r>
              <a:rPr lang="en-GB" sz="1900"/>
              <a:t>IP Address: 192.168.1.20</a:t>
            </a:r>
          </a:p>
          <a:p>
            <a:r>
              <a:rPr lang="en-GB" sz="1900"/>
              <a:t>Subnet Mask: 255.255.255.0</a:t>
            </a:r>
          </a:p>
          <a:p>
            <a:r>
              <a:rPr lang="en-GB" sz="1900"/>
              <a:t>Default Gateway: 192.168.1.1</a:t>
            </a:r>
          </a:p>
          <a:p>
            <a:r>
              <a:rPr lang="en-GB" sz="1900"/>
              <a:t>DNS Server: 8.8.8.8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D96AFE47-9483-50BE-9D68-AEEC4243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2354265"/>
            <a:ext cx="4094226" cy="2149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 họa cấu hình Win10</a:t>
            </a:r>
          </a:p>
        </p:txBody>
      </p:sp>
      <p:pic>
        <p:nvPicPr>
          <p:cNvPr id="4" name="Hình ảnh 3" descr="Cách xem cấu hình máy tính, laptop Win 10/11 chi tiết &amp; chính xác nhất -  Thegioididong.com">
            <a:extLst>
              <a:ext uri="{FF2B5EF4-FFF2-40B4-BE49-F238E27FC236}">
                <a16:creationId xmlns:a16="http://schemas.microsoft.com/office/drawing/2014/main" id="{6A9FEF2A-0A11-B2A9-BDD3-CF514E99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82795"/>
            <a:ext cx="6858000" cy="3897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Thực nghiệm trên pfSense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Kiểm tra kết nối Gateway bằng lệnh ping</a:t>
            </a:r>
          </a:p>
          <a:p>
            <a:r>
              <a:rPr lang="en-GB" sz="1600">
                <a:solidFill>
                  <a:schemeClr val="tx2"/>
                </a:solidFill>
              </a:rPr>
              <a:t>Ping 192.168.1.1 thành công</a:t>
            </a:r>
          </a:p>
          <a:p>
            <a:r>
              <a:rPr lang="en-GB" sz="1600">
                <a:solidFill>
                  <a:schemeClr val="tx2"/>
                </a:solidFill>
              </a:rPr>
              <a:t>Kiểm tra Internet với ping 8.8.8.8</a:t>
            </a:r>
          </a:p>
          <a:p>
            <a:r>
              <a:rPr lang="en-GB" sz="1600">
                <a:solidFill>
                  <a:schemeClr val="tx2"/>
                </a:solidFill>
              </a:rPr>
              <a:t>Firewall chặn ICMP → Request timed out</a:t>
            </a:r>
          </a:p>
          <a:p>
            <a:r>
              <a:rPr lang="en-GB" sz="1600">
                <a:solidFill>
                  <a:schemeClr val="tx2"/>
                </a:solidFill>
              </a:rPr>
              <a:t>Xác nhận Rule hoạt động chính xác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850" y="2023110"/>
            <a:ext cx="1852218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/>
              <a:t>Minh họa thực nghiệm pfSense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76976" y="3411145"/>
            <a:ext cx="1719072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067477" y="245695"/>
            <a:ext cx="1715478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462" y="664308"/>
            <a:ext cx="6061974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D7CA7939-20C8-8F99-1FE4-F8876C573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0688" y="1242651"/>
            <a:ext cx="2777490" cy="1805368"/>
          </a:xfrm>
          <a:prstGeom prst="rect">
            <a:avLst/>
          </a:prstGeom>
          <a:noFill/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C9D07C39-CDBB-637B-9CC6-8020DB4AE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5679" y="1343335"/>
            <a:ext cx="2777490" cy="1604000"/>
          </a:xfrm>
          <a:prstGeom prst="rect">
            <a:avLst/>
          </a:prstGeom>
          <a:noFill/>
        </p:spPr>
      </p:pic>
      <p:pic>
        <p:nvPicPr>
          <p:cNvPr id="5" name="Picture 13">
            <a:extLst>
              <a:ext uri="{FF2B5EF4-FFF2-40B4-BE49-F238E27FC236}">
                <a16:creationId xmlns:a16="http://schemas.microsoft.com/office/drawing/2014/main" id="{E3C72610-66CD-1092-915F-D65ED3A16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0688" y="4059564"/>
            <a:ext cx="2777490" cy="1534563"/>
          </a:xfrm>
          <a:prstGeom prst="rect">
            <a:avLst/>
          </a:prstGeom>
          <a:noFill/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347CC222-EBC6-1042-2BAE-E701DCCA8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748" y="4063035"/>
            <a:ext cx="2777490" cy="15276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Mô hình thực nghiệm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n-GB" sz="1600" dirty="0">
                <a:solidFill>
                  <a:schemeClr val="tx2"/>
                </a:solidFill>
              </a:rPr>
              <a:t>• Firewall </a:t>
            </a:r>
            <a:r>
              <a:rPr lang="en-GB" sz="1600" dirty="0" err="1">
                <a:solidFill>
                  <a:schemeClr val="tx2"/>
                </a:solidFill>
              </a:rPr>
              <a:t>pfSense</a:t>
            </a:r>
            <a:r>
              <a:rPr lang="en-GB" sz="1600" dirty="0">
                <a:solidFill>
                  <a:schemeClr val="tx2"/>
                </a:solidFill>
              </a:rPr>
              <a:t> </a:t>
            </a:r>
            <a:r>
              <a:rPr lang="en-GB" sz="1600" dirty="0" err="1">
                <a:solidFill>
                  <a:schemeClr val="tx2"/>
                </a:solidFill>
              </a:rPr>
              <a:t>sử</a:t>
            </a:r>
            <a:r>
              <a:rPr lang="en-GB" sz="1600" dirty="0">
                <a:solidFill>
                  <a:schemeClr val="tx2"/>
                </a:solidFill>
              </a:rPr>
              <a:t> </a:t>
            </a:r>
            <a:r>
              <a:rPr lang="en-GB" sz="1600" dirty="0" err="1">
                <a:solidFill>
                  <a:schemeClr val="tx2"/>
                </a:solidFill>
              </a:rPr>
              <a:t>dụng</a:t>
            </a:r>
            <a:r>
              <a:rPr lang="en-GB" sz="1600" dirty="0">
                <a:solidFill>
                  <a:schemeClr val="tx2"/>
                </a:solidFill>
              </a:rPr>
              <a:t>:</a:t>
            </a:r>
          </a:p>
          <a:p>
            <a:r>
              <a:rPr lang="en-GB" sz="1600" dirty="0">
                <a:solidFill>
                  <a:schemeClr val="tx2"/>
                </a:solidFill>
              </a:rPr>
              <a:t>  - WAN: Vmnet0 / NAT</a:t>
            </a:r>
          </a:p>
          <a:p>
            <a:r>
              <a:rPr lang="en-GB" sz="1600" dirty="0">
                <a:solidFill>
                  <a:schemeClr val="tx2"/>
                </a:solidFill>
              </a:rPr>
              <a:t>  - LAN: Vmnet1 / Host-only</a:t>
            </a:r>
          </a:p>
          <a:p>
            <a:r>
              <a:rPr lang="en-GB" sz="1600" dirty="0">
                <a:solidFill>
                  <a:schemeClr val="tx2"/>
                </a:solidFill>
              </a:rPr>
              <a:t>• </a:t>
            </a:r>
            <a:r>
              <a:rPr lang="en-GB" sz="1600" dirty="0" err="1">
                <a:solidFill>
                  <a:schemeClr val="tx2"/>
                </a:solidFill>
              </a:rPr>
              <a:t>Máy</a:t>
            </a:r>
            <a:r>
              <a:rPr lang="en-GB" sz="1600" dirty="0">
                <a:solidFill>
                  <a:schemeClr val="tx2"/>
                </a:solidFill>
              </a:rPr>
              <a:t> Windows 10 </a:t>
            </a:r>
            <a:r>
              <a:rPr lang="en-GB" sz="1600" dirty="0" err="1">
                <a:solidFill>
                  <a:schemeClr val="tx2"/>
                </a:solidFill>
              </a:rPr>
              <a:t>làm</a:t>
            </a:r>
            <a:r>
              <a:rPr lang="en-GB" sz="1600" dirty="0">
                <a:solidFill>
                  <a:schemeClr val="tx2"/>
                </a:solidFill>
              </a:rPr>
              <a:t> Client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GB" sz="1600">
                <a:solidFill>
                  <a:schemeClr val="tx2"/>
                </a:solidFill>
              </a:rPr>
              <a:t>• Hoàn thành cài đặt và cấu hình Firewall pfSense</a:t>
            </a:r>
          </a:p>
          <a:p>
            <a:r>
              <a:rPr lang="en-GB" sz="1600">
                <a:solidFill>
                  <a:schemeClr val="tx2"/>
                </a:solidFill>
              </a:rPr>
              <a:t>• Kiểm soát truy cập và bảo vệ hệ thống mạng hiệu quả</a:t>
            </a:r>
          </a:p>
          <a:p>
            <a:r>
              <a:rPr lang="en-GB" sz="1600">
                <a:solidFill>
                  <a:schemeClr val="tx2"/>
                </a:solidFill>
              </a:rPr>
              <a:t>• Hệ thống hoạt động ổn định và tiết kiệm chi phí</a:t>
            </a:r>
          </a:p>
          <a:p>
            <a:r>
              <a:rPr lang="en-GB" sz="1600">
                <a:solidFill>
                  <a:schemeClr val="tx2"/>
                </a:solidFill>
              </a:rPr>
              <a:t>• Có thể mở rộng thêm các giải pháp bảo mật nâng 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731</Words>
  <Application>Microsoft Office PowerPoint</Application>
  <PresentationFormat>Trình chiếu Trên màn hình (4:3)</PresentationFormat>
  <Paragraphs>112</Paragraphs>
  <Slides>21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CÀI ĐẶT VÀ CẤU HÌNH HỆ THỐNG KIỂM SOÁT TRUY CẬP - FIREWALL</vt:lpstr>
      <vt:lpstr>Lời nói đầu</vt:lpstr>
      <vt:lpstr>Tổng quan về Firewall</vt:lpstr>
      <vt:lpstr>Chức năng chính của Firewall</vt:lpstr>
      <vt:lpstr>Phân loại Firewall</vt:lpstr>
      <vt:lpstr>Kiến trúc Firewall</vt:lpstr>
      <vt:lpstr>Các thành phần của Firewall</vt:lpstr>
      <vt:lpstr>Kiểm tra Firewall Rules</vt:lpstr>
      <vt:lpstr>Cấu hình Firewall Rules</vt:lpstr>
      <vt:lpstr>Giới thiệu pfSense</vt:lpstr>
      <vt:lpstr>Chức năng chính của pfSense</vt:lpstr>
      <vt:lpstr>Cài đặt pfSense trên máy ảo</vt:lpstr>
      <vt:lpstr>Cấu hình mạng pfSense</vt:lpstr>
      <vt:lpstr>Kiểm tra hệ thống</vt:lpstr>
      <vt:lpstr>Các bước cấu hình Win10</vt:lpstr>
      <vt:lpstr>Cấu hình Windows 10 Client</vt:lpstr>
      <vt:lpstr>Minh họa cấu hình Win10</vt:lpstr>
      <vt:lpstr>Thực nghiệm trên pfSense</vt:lpstr>
      <vt:lpstr>Minh họa thực nghiệm pfSense</vt:lpstr>
      <vt:lpstr>Mô hình thực nghiệm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 Phung</cp:lastModifiedBy>
  <cp:revision>11</cp:revision>
  <dcterms:created xsi:type="dcterms:W3CDTF">2013-01-27T09:14:16Z</dcterms:created>
  <dcterms:modified xsi:type="dcterms:W3CDTF">2026-05-10T11:13:30Z</dcterms:modified>
  <cp:category/>
</cp:coreProperties>
</file>